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รายได้ (฿)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11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0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968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Fafah</c:v>
                  </c:pt>
                  <c:pt idx="1">
                    <c:v>Aoi</c:v>
                  </c:pt>
                  <c:pt idx="2">
                    <c:v>Pornpol</c:v>
                  </c:pt>
                  <c:pt idx="3">
                    <c:v>Admin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185000</c:v>
                </c:pt>
                <c:pt idx="1">
                  <c:v>142000</c:v>
                </c:pt>
                <c:pt idx="2">
                  <c:v>98000</c:v>
                </c:pt>
                <c:pt idx="3">
                  <c:v>55000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11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11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111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School CRM v2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ระบบที่เปลี่ยนข้อมูล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เป็นรายได้จริง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 School · กรุงเทพฯ ·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4389120"/>
            <a:ext cx="54864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ก่อนมี CRM: ปัญหาที่เจออยู่ทุกวัน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457200" cy="457200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11A"/>
                </a:solidFill>
              </a:rPr>
              <a:t>ยิง Ads ไปเรื่อยๆ ไม่รู้ผล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270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968A"/>
                </a:solidFill>
              </a:rPr>
              <a:t>ไม่รู้ว่า Ad ไหนทำให้มีลูกค้าจริง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968A"/>
                </a:solidFill>
              </a:rPr>
              <a:t>ใช้งบไปเฉยๆ วัดผลไม่ได้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207008"/>
            <a:ext cx="457200" cy="457200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170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11A"/>
                </a:solidFill>
              </a:rPr>
              <a:t>ลูกค้าทักมา — ตอบช้า ปิดไม่ได้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5270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968A"/>
                </a:solidFill>
              </a:rPr>
              <a:t>ข้อความ FB + LINE กระจัดกระจาย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968A"/>
                </a:solidFill>
              </a:rPr>
              <a:t>ไม่มีระบบติดตาม หลุดไปหลายดีล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9748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07208"/>
            <a:ext cx="457200" cy="457200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770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11A"/>
                </a:solidFill>
              </a:rPr>
              <a:t>ไม่รู้ว่าวัตถุดิบจะพอสอนไหม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1272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968A"/>
                </a:solidFill>
              </a:rPr>
              <a:t>สต็อกเหลือไม่ชัดเจน ไม่รู้ lot ไหน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968A"/>
                </a:solidFill>
              </a:rPr>
              <a:t>หมดก่อน เสียหายจากของหมดอายุ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6974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69748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2807208"/>
            <a:ext cx="457200" cy="457200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2770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11A"/>
                </a:solidFill>
              </a:rPr>
              <a:t>นักเรียนเก่าไม่กลับมาซื้อซ้ำ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31272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968A"/>
                </a:solidFill>
              </a:rPr>
              <a:t>ไม่มีระบบ re-engage อัตโนมัติ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968A"/>
                </a:solidFill>
              </a:rPr>
              <a:t>ต้องจำเองว่าใครควรได้รับข่าวสาร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3159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ปัญหาเหล่านี้ทำให้เสียเงินและเสียโอกาสทุกวัน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111A"/>
          </a:solidFill>
          <a:ln w="12700">
            <a:solidFill>
              <a:srgbClr val="121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School CRM v2 สร้างรายได้ใน 5 ทาง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8503920" cy="9144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57400"/>
            <a:ext cx="8503920" cy="9144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697480"/>
            <a:ext cx="8503920" cy="9144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337560"/>
            <a:ext cx="8503920" cy="9144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22960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11A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868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11A"/>
                </a:solidFill>
              </a:rPr>
              <a:t>รู้ว่า Ad ไหนได้เงินจริง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0" y="822960"/>
            <a:ext cx="173736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822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11A"/>
                </a:solidFill>
              </a:rPr>
              <a:t>ลด Ad Waste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502920" cy="502920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1508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11A"/>
                </a:solidFill>
              </a:rPr>
              <a:t>ตอบเร็วขึ้น → Conversion สูงขึ้น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32320" y="1463040"/>
            <a:ext cx="1737360" cy="5029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463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เพิ่ม Conversion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103120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11A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2148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11A"/>
                </a:solidFill>
              </a:rPr>
              <a:t>Package &amp; Upsell อัตโนมัติ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32320" y="2103120"/>
            <a:ext cx="173736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11A"/>
                </a:solidFill>
              </a:rPr>
              <a:t>เพิ่ม AOV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743200"/>
            <a:ext cx="502920" cy="502920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2788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11A"/>
                </a:solidFill>
              </a:rPr>
              <a:t>ลดของเสีย ตรวจสต็อก Lot by Lot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132320" y="2743200"/>
            <a:ext cx="1737360" cy="5029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ลดต้นทุน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11A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1560" y="3429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11A"/>
                </a:solidFill>
              </a:rPr>
              <a:t>Re-engage นักเรียนเก่าผ่าน LINE อัตโนมัติ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132320" y="3383280"/>
            <a:ext cx="173736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11A"/>
                </a:solidFill>
              </a:rPr>
              <a:t>เพิ่ม LTV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ทั้ง 5 ทางนี้ทำงานพร้อมกันในระบบเดียว ไม่ต้องใช้หลายแพลตฟอร์ม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1887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11A"/>
                </a:solidFill>
              </a:rPr>
              <a:t>วิธีที่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รู้ว่า Ad ไหนได้เงินจริง — ด้วย ROAS Attribution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73152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252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Facebook Ad คลิก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68A"/>
                </a:solidFill>
              </a:rPr>
              <a:t>ระบบบันทึก ad_id จาก webhook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920240"/>
            <a:ext cx="18288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57400"/>
            <a:ext cx="4114800" cy="73152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93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ลูกค้าส่งข้อความ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441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68A"/>
                </a:solidFill>
              </a:rPr>
              <a:t>Customer.originId = ad_id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788920"/>
            <a:ext cx="18288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26080"/>
            <a:ext cx="4114800" cy="73152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626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ลูกค้าสมัครคอร์ส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310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68A"/>
                </a:solidFill>
              </a:rPr>
              <a:t>Order.totalAmount ผูกกับ ad_id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411480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94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11A"/>
                </a:solidFill>
              </a:rPr>
              <a:t>ROAS = รายได้ ÷ งบโฆษณา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840480" cy="91440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188720"/>
            <a:ext cx="73152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</a:rPr>
              <a:t>3-5×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074920" y="16824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ROAS เฉลี่ยที่ดีสำหรับ School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286000"/>
            <a:ext cx="3840480" cy="91440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286000"/>
            <a:ext cx="73152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304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</a:rPr>
              <a:t>50%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074920" y="27797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งบโฆษณาที่ประหยัดได้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เมื่อรู้ว่า Ad ไหนไม่ work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383280"/>
            <a:ext cx="3840480" cy="73152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3383280"/>
            <a:ext cx="73152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429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</a:rPr>
              <a:t>ตอนนี้ระบบบันทึก Attribution ครบแล้ว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</a:rPr>
              <a:t>พร้อม query ทันที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11A"/>
          </a:solidFill>
          <a:ln w="12700">
            <a:solidFill>
              <a:srgbClr val="121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188720" cy="3657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วิธีที่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7315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Inbox — ตอบเร็วขึ้น ปิดดีลได้เยอะขึ้น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0" y="71323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640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โอกาสปิดดีลสูงกว่า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21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ถ้าตอบภายใน 1 ชั่วโมง vs. 1 วัน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3931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77440"/>
            <a:ext cx="73152" cy="21945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50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045"/>
                </a:solidFill>
              </a:rPr>
              <a:t>ก่อน — กระจัดกระจาย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B968A"/>
                </a:solidFill>
              </a:rPr>
              <a:t>Facebook Messenger — แอปแยก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B968A"/>
                </a:solidFill>
              </a:rPr>
              <a:t>LINE Official — แอปแยก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4564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B968A"/>
                </a:solidFill>
              </a:rPr>
              <a:t>ไม่รู้ว่าใครรับผิดชอบ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7764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B968A"/>
                </a:solidFill>
              </a:rPr>
              <a:t>ลูกค้าถามซ้ำ ข้อมูลหาย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377440"/>
            <a:ext cx="3931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377440"/>
            <a:ext cx="73152" cy="2194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450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</a:rPr>
              <a:t>หลัง — Inbox เดียว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2111A"/>
                </a:solidFill>
              </a:rPr>
              <a:t>FB + LINE รวมในหน้าเดียว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136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2111A"/>
                </a:solidFill>
              </a:rPr>
              <a:t>เห็นประวัติลูกค้าทันที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4564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2111A"/>
                </a:solidFill>
              </a:rPr>
              <a:t>ตอบได้ทุกช่องทางในที่เดียว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7764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2111A"/>
                </a:solidFill>
              </a:rPr>
              <a:t>วัด Response Time ของทีม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1887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11A"/>
                </a:solidFill>
              </a:rPr>
              <a:t>วิธีที่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 &amp; Upsell — เพิ่มรายได้ต่อลูกค้า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200400" cy="274320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</a:rPr>
              <a:t>ลูกค้าซื้อคอร์สเดี่ยว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B9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฿4,500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68A"/>
                </a:solidFill>
              </a:rPr>
              <a:t>ต่อคน ต่อครั้ง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2834640" cy="9144"/>
          </a:xfrm>
          <a:prstGeom prst="rect">
            <a:avLst/>
          </a:prstGeom>
          <a:solidFill>
            <a:srgbClr val="9B968A"/>
          </a:solidFill>
          <a:ln w="12700">
            <a:solidFill>
              <a:srgbClr val="9B9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4045"/>
                </a:solidFill>
              </a:rPr>
              <a:t>ไม่มีเหตุผลให้กลับมาซื้อต่อ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94760" y="2286000"/>
            <a:ext cx="640080" cy="64008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114800" cy="274320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234440"/>
            <a:ext cx="91440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ลูกค้าซื้อ Package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7190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฿18,000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84632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ต่อคน (หลายคอร์ส)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651760"/>
            <a:ext cx="3749040" cy="9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✓  คอร์สหลาย level ใน 1 ดีล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✓  Swap course ได้ 1 ครั้ง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401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✓  ของแถม สร้าง perceived value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</a:rPr>
              <a:t>เพิ่ม AOV ได้ถึง 4× เมื่อขาย Package แทนคอร์สเดี่ยว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11A"/>
          </a:solidFill>
          <a:ln w="12700">
            <a:solidFill>
              <a:srgbClr val="121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188720" cy="3657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วิธีที่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7315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 ID — รู้ทุก Lot ว่าเหลือเท่าไร หมดอายุเมื่อไร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31520"/>
            <a:ext cx="4114800" cy="411480"/>
          </a:xfrm>
          <a:prstGeom prst="rect">
            <a:avLst/>
          </a:prstGeom>
          <a:solidFill>
            <a:srgbClr val="12111A"/>
          </a:solidFill>
          <a:ln w="12700">
            <a:solidFill>
              <a:srgbClr val="1211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31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LOT ID  |  วัตถุดิบ  |  เหลือ  |  หมดอายุ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704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11A"/>
                </a:solidFill>
              </a:rPr>
              <a:t>LOT-20260316-001  |  แป้งสาลี  |  2.5 kg  |  30 มี.ค.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4114800" cy="36576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11A"/>
                </a:solidFill>
              </a:rPr>
              <a:t>LOT-20260310-003  |  โชยุ  |  1.2 L  |  15 เม.ย.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4114800" cy="365760"/>
          </a:xfrm>
          <a:prstGeom prst="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019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045"/>
                </a:solidFill>
              </a:rPr>
              <a:t>LOT-20260301-002  |  ซากุระมิโซ  |  0.8 kg  |  ⚠ 18 มี.ค.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114800" cy="365760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677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11A"/>
                </a:solidFill>
              </a:rPr>
              <a:t>LOT-20260305-001  |  ไข่ไก่  |  24 ฟอง  |  22 มี.ค.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68A"/>
                </a:solidFill>
              </a:rPr>
              <a:t>ระบบแจ้งเตือนอัตโนมัติเมื่อของใกล้หมดอายุ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7315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731520"/>
            <a:ext cx="73152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7772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11A"/>
                </a:solidFill>
              </a:rPr>
              <a:t>ลดของเสียจาก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111A"/>
                </a:solidFill>
              </a:rPr>
              <a:t>วัตถุดิบหมดอายุ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1887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8A"/>
                </a:solidFill>
              </a:rPr>
              <a:t>FEFO: ใช้ lot ที่หมดก่อนออกก่อน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7373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737360"/>
            <a:ext cx="73152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783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11A"/>
                </a:solidFill>
              </a:rPr>
              <a:t>รู้ต้นทุนจริงแยก Lot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1945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8A"/>
                </a:solidFill>
              </a:rPr>
              <a:t>costPerUnit ต่าง lot = margin ชัดเจนขึ้น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74320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743200"/>
            <a:ext cx="73152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7889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11A"/>
                </a:solidFill>
              </a:rPr>
              <a:t>เชื่อมกับตัดสต็อกอัตโนมัติ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2004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8A"/>
                </a:solidFill>
              </a:rPr>
              <a:t>ทุกครั้งที่สอนคลาส ระบบบันทึก log ทุก lot ที่ใช้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886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2111A"/>
                </a:solidFill>
              </a:rPr>
              <a:t>วัตถุดิบเฉลี่ยคิดเป็น 25-35% ของต้นทุนคอร์ส — ลดของเสียได้ = กำไรเพิ่ม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1887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11A"/>
                </a:solidFill>
              </a:rPr>
              <a:t>วิธีที่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Notification อัตโนมัติ — ดึงนักเรียนกลับมา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1554480" cy="82296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325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นักเรียน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จบคอร์ส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55648" y="1709928"/>
            <a:ext cx="54864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325880"/>
            <a:ext cx="1554480" cy="82296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325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ระบบ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ตรวจสอบ Rule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58768" y="1709928"/>
            <a:ext cx="54864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325880"/>
            <a:ext cx="155448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325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11A"/>
                </a:solidFill>
              </a:rPr>
              <a:t>ส่ง 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2111A"/>
                </a:solidFill>
              </a:rPr>
              <a:t>อัตโนมัติ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61888" y="1709928"/>
            <a:ext cx="54864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325880"/>
            <a:ext cx="1554480" cy="82296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325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นักเรียน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</a:rPr>
              <a:t>คลิก/ตอบ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65008" y="1709928"/>
            <a:ext cx="54864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1325880"/>
            <a:ext cx="411480" cy="8229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13258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423160"/>
            <a:ext cx="2560320" cy="155448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423160"/>
            <a:ext cx="73152" cy="1554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25237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30 วันหลังจบ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29077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ส่ง LINE แนะนำ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คอร์ส Level ถัดไป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566160"/>
            <a:ext cx="146304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66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11A"/>
                </a:solidFill>
              </a:rPr>
              <a:t>Re-enroll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423160"/>
            <a:ext cx="2560320" cy="155448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423160"/>
            <a:ext cx="73152" cy="1554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977640" y="25237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VIP / High-spend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0" y="29077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ส่งโปรโมชั่น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พิเศษเฉพาะกลุ่ม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0" y="3566160"/>
            <a:ext cx="1463040" cy="2743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566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Exclusive Offer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423160"/>
            <a:ext cx="2560320" cy="1554480"/>
          </a:xfrm>
          <a:prstGeom prst="rect">
            <a:avLst/>
          </a:prstGeom>
          <a:solidFill>
            <a:srgbClr val="1C2A3A"/>
          </a:solidFill>
          <a:ln w="12700">
            <a:solidFill>
              <a:srgbClr val="1C2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2423160"/>
            <a:ext cx="73152" cy="1554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542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📅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03720" y="25237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ใกล้เปิดคลาสใหม่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29077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แจ้งตารางเรียน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ล่วงหน้า 7 วัน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3566160"/>
            <a:ext cx="146304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566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11A"/>
                </a:solidFill>
              </a:rPr>
              <a:t>Class Alert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นักเรียนเก่ามีโอกาสซื้อซ้ำสูงกว่า 5× เทียบกับลูกค้าใหม่ — และไม่ต้องใช้งบ Ads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2111A"/>
          </a:solidFill>
          <a:ln w="12700">
            <a:solidFill>
              <a:srgbClr val="1211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ทีมงาน — รู้ว่าใครทำอะไรได้เท่าไร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315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731520"/>
            <a:ext cx="3017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731520"/>
            <a:ext cx="64008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7589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11A"/>
                </a:solidFill>
              </a:rPr>
              <a:t>4.2 นาที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0" y="1106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68A"/>
                </a:solidFill>
              </a:rPr>
              <a:t>เวลาตอบเฉลี่ย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1508760"/>
            <a:ext cx="3017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508760"/>
            <a:ext cx="64008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11A"/>
                </a:solidFill>
              </a:rPr>
              <a:t>34%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943600" y="1883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68A"/>
                </a:solidFill>
              </a:rPr>
              <a:t>Conversion Rate ดีลที่ตอบเร็ว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286000"/>
            <a:ext cx="3017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286000"/>
            <a:ext cx="64008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313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11A"/>
                </a:solidFill>
              </a:rPr>
              <a:t>฿8,750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943600" y="2660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68A"/>
                </a:solidFill>
              </a:rPr>
              <a:t>AOV เฉลี่ยต่อออร์เดอร์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06324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063240"/>
            <a:ext cx="64008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3108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11A"/>
                </a:solidFill>
              </a:rPr>
              <a:t>ดู Dashboard ได้ real-time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2111A"/>
                </a:solidFill>
              </a:rPr>
              <a:t>แยกตาม day/week/month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2111A"/>
                </a:solidFill>
              </a:rPr>
              <a:t>ไม่ต้องรอ report end of month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ผู้บริหารเห็นภาพรวมทีมแบบ real-time — ตัดสินใจได้เร็วขึ้น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School CRM v2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ทำให้ทุกบาทที่ลงทุนวัดผลได้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11A"/>
                </a:solidFill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</a:rPr>
              <a:t>Ad Attribution → หยุดเผาเงินกับ Ad ที่ไม่ได้ผล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1965960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11A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96596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</a:rPr>
              <a:t>Unified Inbox → ตอบเร็วขึ้น ปิดดีลได้เยอะขึ้น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468880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11A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46888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</a:rPr>
              <a:t>Package System → เพิ่ม AOV ได้ถึง 4×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2971800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11A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97180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</a:rPr>
              <a:t>Lot Tracking → ลดของเสีย ลดต้นทุนวัตถุดิบ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3474720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11A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347472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</a:rPr>
              <a:t>LINE Automation → Re-engage นักเรียนเก่าแบบ 0 Ads Cost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71600" y="4041648"/>
            <a:ext cx="6400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9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ระบบพร้อมใช้งาน — ข้อมูลทุกอย่างอยู่ในฐานข้อมูลของ V School เท่านั้น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School CRM v2 — Business Pitch</dc:title>
  <dc:subject>PptxGenJS Presentation</dc:subject>
  <dc:creator>V School</dc:creator>
  <cp:lastModifiedBy>V School</cp:lastModifiedBy>
  <cp:revision>1</cp:revision>
  <dcterms:created xsi:type="dcterms:W3CDTF">2026-03-16T12:29:23Z</dcterms:created>
  <dcterms:modified xsi:type="dcterms:W3CDTF">2026-03-16T12:29:23Z</dcterms:modified>
</cp:coreProperties>
</file>